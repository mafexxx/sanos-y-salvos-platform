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Sanos y Salvos Platform | Defensa oral DSY1106</a:t>
            </a:r>
          </a:p>
        </p:txBody>
      </p:sp>
      <p:sp>
        <p:nvSpPr>
          <p:cNvPr id="4" name="Oval 3"/>
          <p:cNvSpPr/>
          <p:nvPr/>
        </p:nvSpPr>
        <p:spPr>
          <a:xfrm>
            <a:off x="8138160" y="1005840"/>
            <a:ext cx="3200400" cy="3200400"/>
          </a:xfrm>
          <a:prstGeom prst="ellipse">
            <a:avLst/>
          </a:prstGeom>
          <a:solidFill>
            <a:srgbClr val="E2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3566160"/>
            <a:ext cx="1828800" cy="1828800"/>
          </a:xfrm>
          <a:prstGeom prst="ellipse">
            <a:avLst/>
          </a:prstGeom>
          <a:solidFill>
            <a:srgbClr val="E1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142D50"/>
                </a:solidFill>
              </a:rPr>
              <a:t>Defensa Oral EP2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33271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8626E"/>
                </a:solidFill>
              </a:rPr>
              <a:t>Implementación de Componentes Frontend y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6583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263B4"/>
                </a:solidFill>
              </a:rPr>
              <a:t>Sanos y Salvos Platform</a:t>
            </a:r>
          </a:p>
          <a:p>
            <a:pPr>
              <a:defRPr sz="1700">
                <a:solidFill>
                  <a:srgbClr val="23272F"/>
                </a:solidFill>
              </a:defRPr>
            </a:pPr>
            <a:r>
              <a:t>Plataforma de gestión veterinaria y reportes de mascotas perdidas/encontradas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703320"/>
            <a:ext cx="1463040" cy="411480"/>
          </a:xfrm>
          <a:prstGeom prst="round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React + Vite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3703320"/>
            <a:ext cx="1554480" cy="411480"/>
          </a:xfrm>
          <a:prstGeom prst="roundRect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Spring Boot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3703320"/>
            <a:ext cx="1920240" cy="4114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Microservicios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703320"/>
            <a:ext cx="1188720" cy="411480"/>
          </a:xfrm>
          <a:prstGeom prst="round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DE1BE4F3-8967-080F-6E04-609536FBC3E0}"/>
              </a:ext>
            </a:extLst>
          </p:cNvPr>
          <p:cNvSpPr/>
          <p:nvPr/>
        </p:nvSpPr>
        <p:spPr>
          <a:xfrm>
            <a:off x="868680" y="4645152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F22275AE-D752-7077-5F2D-C91480EC4F6B}"/>
              </a:ext>
            </a:extLst>
          </p:cNvPr>
          <p:cNvSpPr/>
          <p:nvPr/>
        </p:nvSpPr>
        <p:spPr>
          <a:xfrm>
            <a:off x="868680" y="4645152"/>
            <a:ext cx="73152" cy="1828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8A4890A9-80D0-82D2-3EA4-9A3CE9B963DB}"/>
              </a:ext>
            </a:extLst>
          </p:cNvPr>
          <p:cNvSpPr txBox="1"/>
          <p:nvPr/>
        </p:nvSpPr>
        <p:spPr>
          <a:xfrm>
            <a:off x="1069848" y="4782312"/>
            <a:ext cx="507492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700" b="1" dirty="0">
                <a:solidFill>
                  <a:srgbClr val="142D50"/>
                </a:solidFill>
              </a:rPr>
              <a:t>Integrantes</a:t>
            </a:r>
          </a:p>
          <a:p>
            <a:r>
              <a:rPr lang="es-MX" sz="1700" b="1" dirty="0">
                <a:solidFill>
                  <a:srgbClr val="142D50"/>
                </a:solidFill>
              </a:rPr>
              <a:t>Benjamín Arellano</a:t>
            </a:r>
          </a:p>
          <a:p>
            <a:r>
              <a:rPr lang="es-MX" sz="1700" b="1" dirty="0">
                <a:solidFill>
                  <a:srgbClr val="142D50"/>
                </a:solidFill>
              </a:rPr>
              <a:t>Matías Guzmán</a:t>
            </a:r>
          </a:p>
          <a:p>
            <a:r>
              <a:rPr lang="es-MX" sz="1700" b="1" dirty="0">
                <a:solidFill>
                  <a:srgbClr val="142D50"/>
                </a:solidFill>
              </a:rPr>
              <a:t>Benjamín Valdebenito</a:t>
            </a:r>
          </a:p>
          <a:p>
            <a:r>
              <a:rPr lang="es-MX" sz="1700" b="1" dirty="0">
                <a:solidFill>
                  <a:srgbClr val="142D50"/>
                </a:solidFill>
              </a:rPr>
              <a:t>Maximiliano Vera</a:t>
            </a:r>
            <a:endParaRPr sz="1700" b="1" dirty="0">
              <a:solidFill>
                <a:srgbClr val="142D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Sanos y Salvos Platform | Defensa oral DSY1106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142D50"/>
                </a:solidFill>
              </a:rPr>
              <a:t>Contexto y problema que resuelve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" cy="1828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5074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D50"/>
                </a:solidFill>
              </a:rPr>
              <a:t>Problema principal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Centralizar gestión veterinaria de mascotas, usuarios y reportes.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Evitar una solución monolítica difícil de mantener.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Permitir que distintos integrantes trabajen en paralelo.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73152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554480"/>
            <a:ext cx="5074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D50"/>
                </a:solidFill>
              </a:rPr>
              <a:t>Solución propuesta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Frontend desacoplado en React + Vite.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Backend separado en BFF y microservicios.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API Gateway como punto de entrada único.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Eureka, Config Server, Keycloak, MySQL y Docker.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11109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73152" cy="1600200"/>
          </a:xfrm>
          <a:prstGeom prst="rect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840480"/>
            <a:ext cx="10789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D50"/>
                </a:solidFill>
              </a:rPr>
              <a:t>Valor para el sistema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Separación clara de responsabilidades.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Escalabilidad independiente por componente.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Mayor mantenibilidad y facilidad para agregar funcionalidades.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Ambientes reproducibles mediante Docker.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Sanos y Salvos Platform | Defensa oral DSY1106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142D50"/>
                </a:solidFill>
              </a:rPr>
              <a:t>Arquitectura general del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1828800" cy="960120"/>
          </a:xfrm>
          <a:prstGeom prst="round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Frontend
React + Vite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2331720"/>
            <a:ext cx="1828800" cy="960120"/>
          </a:xfrm>
          <a:prstGeom prst="roundRect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API Gateway
entrada única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2331720"/>
            <a:ext cx="1828800" cy="9601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BFF
adapta datos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331720"/>
            <a:ext cx="1828800" cy="9601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Microservicios
Mascotas | Reportes | Usuarios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87168" y="2542032"/>
            <a:ext cx="301752" cy="502920"/>
          </a:xfrm>
          <a:prstGeom prst="rightArrow">
            <a:avLst/>
          </a:prstGeom>
          <a:solidFill>
            <a:srgbClr val="91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4773168" y="2542032"/>
            <a:ext cx="301752" cy="502920"/>
          </a:xfrm>
          <a:prstGeom prst="rightArrow">
            <a:avLst/>
          </a:prstGeom>
          <a:solidFill>
            <a:srgbClr val="91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7059168" y="2542032"/>
            <a:ext cx="301752" cy="502920"/>
          </a:xfrm>
          <a:prstGeom prst="rightArrow">
            <a:avLst/>
          </a:prstGeom>
          <a:solidFill>
            <a:srgbClr val="91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406908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4069080"/>
            <a:ext cx="73152" cy="169164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20624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D50"/>
                </a:solidFill>
              </a:rPr>
              <a:t>Servicios de soporte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Eureka Server: descubrimiento de servicios.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Config Server: configuración centralizada.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Keycloak: autenticación y autorización.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MySQL: persistencia de datos por servicios.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4069080"/>
            <a:ext cx="73152" cy="1691640"/>
          </a:xfrm>
          <a:prstGeom prst="rect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4206240"/>
            <a:ext cx="475488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rPr dirty="0"/>
              <a:t>Los </a:t>
            </a:r>
            <a:r>
              <a:rPr dirty="0" err="1"/>
              <a:t>microservicios</a:t>
            </a:r>
            <a:r>
              <a:rPr dirty="0"/>
              <a:t> </a:t>
            </a:r>
            <a:r>
              <a:rPr dirty="0" err="1"/>
              <a:t>reducen</a:t>
            </a:r>
            <a:r>
              <a:rPr dirty="0"/>
              <a:t> </a:t>
            </a:r>
            <a:r>
              <a:rPr dirty="0" err="1"/>
              <a:t>acoplamiento</a:t>
            </a:r>
            <a:r>
              <a:rPr dirty="0"/>
              <a:t> y </a:t>
            </a:r>
            <a:r>
              <a:rPr dirty="0" err="1"/>
              <a:t>permiten</a:t>
            </a:r>
            <a:r>
              <a:rPr dirty="0"/>
              <a:t> </a:t>
            </a:r>
            <a:r>
              <a:rPr dirty="0" err="1"/>
              <a:t>escalar</a:t>
            </a:r>
            <a:r>
              <a:rPr dirty="0"/>
              <a:t> solo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servicio</a:t>
            </a:r>
            <a:r>
              <a:rPr dirty="0"/>
              <a:t> </a:t>
            </a:r>
            <a:r>
              <a:rPr dirty="0" err="1"/>
              <a:t>necesario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rPr dirty="0"/>
              <a:t>El BFF 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cargar</a:t>
            </a:r>
            <a:r>
              <a:rPr dirty="0"/>
              <a:t> al frontend con </a:t>
            </a:r>
            <a:r>
              <a:rPr dirty="0" err="1"/>
              <a:t>lógica</a:t>
            </a:r>
            <a:r>
              <a:rPr dirty="0"/>
              <a:t> de </a:t>
            </a:r>
            <a:r>
              <a:rPr dirty="0" err="1"/>
              <a:t>integración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rPr dirty="0"/>
              <a:t>El Gateway </a:t>
            </a:r>
            <a:r>
              <a:rPr dirty="0" err="1"/>
              <a:t>centraliza</a:t>
            </a:r>
            <a:r>
              <a:rPr dirty="0"/>
              <a:t> </a:t>
            </a:r>
            <a:r>
              <a:rPr dirty="0" err="1"/>
              <a:t>rutas</a:t>
            </a:r>
            <a:r>
              <a:rPr dirty="0"/>
              <a:t>, </a:t>
            </a:r>
            <a:r>
              <a:rPr dirty="0" err="1"/>
              <a:t>seguridad</a:t>
            </a:r>
            <a:r>
              <a:rPr dirty="0"/>
              <a:t> y </a:t>
            </a:r>
            <a:r>
              <a:rPr dirty="0" err="1"/>
              <a:t>acceso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Sanos y Salvos Platform | Defensa oral DSY1106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142D50"/>
                </a:solidFill>
              </a:rPr>
              <a:t>Patrones de diseño aplicados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2014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Patrón</a:t>
                      </a:r>
                    </a:p>
                  </a:txBody>
                  <a:tcPr>
                    <a:solidFill>
                      <a:srgbClr val="14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Dónde se aplicó</a:t>
                      </a:r>
                    </a:p>
                  </a:txBody>
                  <a:tcPr>
                    <a:solidFill>
                      <a:srgbClr val="14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Problema resuelto</a:t>
                      </a:r>
                    </a:p>
                  </a:txBody>
                  <a:tcPr>
                    <a:solidFill>
                      <a:srgbClr val="14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14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Builder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msvc-mascotas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Construcción validada de objetos Mascota.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Evita inconsistencias y mejora legibilidad.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Facade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msvc-reportes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Encapsula llamadas hacia otros servicios.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Reduce complejidad y acoplamiento.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Adapter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msvc-usuarios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Transforma respuestas externas al formato requerido.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Aumenta compatibilidad y flexibilidad.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77639"/>
            <a:ext cx="10744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3977639"/>
            <a:ext cx="73152" cy="13716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4114800"/>
            <a:ext cx="10424160" cy="720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rPr dirty="0"/>
              <a:t>Cada </a:t>
            </a:r>
            <a:r>
              <a:rPr dirty="0" err="1"/>
              <a:t>patrón</a:t>
            </a:r>
            <a:r>
              <a:rPr dirty="0"/>
              <a:t> </a:t>
            </a:r>
            <a:r>
              <a:rPr dirty="0" err="1"/>
              <a:t>fue</a:t>
            </a:r>
            <a:r>
              <a:rPr dirty="0"/>
              <a:t> </a:t>
            </a:r>
            <a:r>
              <a:rPr dirty="0" err="1"/>
              <a:t>elegido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un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concreto</a:t>
            </a:r>
            <a:r>
              <a:rPr dirty="0"/>
              <a:t> del </a:t>
            </a:r>
            <a:r>
              <a:rPr dirty="0" err="1"/>
              <a:t>proyecto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rPr dirty="0"/>
              <a:t>La </a:t>
            </a: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mejora</a:t>
            </a:r>
            <a:r>
              <a:rPr dirty="0"/>
              <a:t> </a:t>
            </a:r>
            <a:r>
              <a:rPr dirty="0" err="1"/>
              <a:t>mantenibilidad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separa</a:t>
            </a:r>
            <a:r>
              <a:rPr dirty="0"/>
              <a:t> </a:t>
            </a:r>
            <a:r>
              <a:rPr dirty="0" err="1"/>
              <a:t>responsabilidades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rPr dirty="0"/>
              <a:t>La </a:t>
            </a:r>
            <a:r>
              <a:rPr dirty="0" err="1"/>
              <a:t>solución</a:t>
            </a:r>
            <a:r>
              <a:rPr dirty="0"/>
              <a:t>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clara</a:t>
            </a:r>
            <a:r>
              <a:rPr dirty="0"/>
              <a:t> para </a:t>
            </a:r>
            <a:r>
              <a:rPr dirty="0" err="1"/>
              <a:t>probar</a:t>
            </a:r>
            <a:r>
              <a:rPr dirty="0"/>
              <a:t>, extender y </a:t>
            </a:r>
            <a:r>
              <a:rPr dirty="0" err="1"/>
              <a:t>corregir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Sanos y Salvos Platform | Defensa oral DSY1106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142D50"/>
                </a:solidFill>
              </a:rPr>
              <a:t>Arquetipos Maven y patrones arquitectónicos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66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73152" cy="21031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63039"/>
            <a:ext cx="324612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D50"/>
                </a:solidFill>
              </a:rPr>
              <a:t>Arquetipo BFF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Base estandarizada para proyectos BFF.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Configuración inicial automatizada.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Facilita reutilización y rapidez de desarrollo.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566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73152" cy="2103120"/>
          </a:xfrm>
          <a:prstGeom prst="rect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463039"/>
            <a:ext cx="324612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D50"/>
                </a:solidFill>
              </a:rPr>
              <a:t>Arquetipo Microservicio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Estructura uniforme para nuevos servicios.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Maven gestiona dependencias y ciclo de vida.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Mantiene consistencia entre msvc-mascotas, reportes y usuarios.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5204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73152" cy="2103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1463039"/>
            <a:ext cx="32004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D50"/>
                </a:solidFill>
              </a:rPr>
              <a:t>Patrones arquitectónicos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Microservicios: independencia, escalabilidad y despliegue separado.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API Gateway: centralización de rutas y seguridad.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BFF: respuestas optimizadas para el frontend.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886200"/>
            <a:ext cx="10287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0120" y="3886200"/>
            <a:ext cx="73152" cy="160020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4023360"/>
            <a:ext cx="9966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D50"/>
                </a:solidFill>
              </a:rPr>
              <a:t>Relación con coherencia, escalabilidad y rendimiento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Coherencia: misma estructura y convenciones en componentes backend.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Escalabilidad: cada servicio puede crecer de forma independiente.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Rendimiento: el BFF reduce llamadas innecesarias y entrega datos adaptados al cliente.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Sanos y Salvos Platform | Defensa oral DSY1106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142D50"/>
                </a:solidFill>
              </a:rPr>
              <a:t>Estrategia de branching y colaboración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48920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Rama</a:t>
                      </a:r>
                    </a:p>
                  </a:txBody>
                  <a:tcPr>
                    <a:solidFill>
                      <a:srgbClr val="14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Propósito</a:t>
                      </a:r>
                    </a:p>
                  </a:txBody>
                  <a:tcPr>
                    <a:solidFill>
                      <a:srgbClr val="14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Versión estable del proyecto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develop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Integración de funcionalidades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feature/*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Desarrollo de nuevas funcionalidades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hotfix/*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Correcciones críticas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89320" y="1371600"/>
            <a:ext cx="51663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89320" y="1371600"/>
            <a:ext cx="73152" cy="2423160"/>
          </a:xfrm>
          <a:prstGeom prst="rect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90488" y="150876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D50"/>
                </a:solidFill>
              </a:rPr>
              <a:t>Beneficios para el equipo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Permite dividir tareas por componente o funcionalidad.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Reduce el riesgo de romper la versión estable.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Facilita revisar, integrar y documentar cambios.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Aporta evidencia de merges, ramas y control de versiones.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10378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4297680"/>
            <a:ext cx="73152" cy="1143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443484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D50"/>
                </a:solidFill>
              </a:rPr>
              <a:t>Gestión de conflictos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Al integrar ramas se revisaron cambios incompatibles, dependencias afectadas e integridad del código.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La resolución se validó comprobando funcionamiento general del sistema antes de consolidar cambios.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Sanos y Salvos Platform | Defensa oral DSY1106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142D50"/>
                </a:solidFill>
              </a:rPr>
              <a:t>Buenas prácticas, pruebas y calidad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417320"/>
            <a:ext cx="658368" cy="658368"/>
          </a:xfrm>
          <a:prstGeom prst="ellipse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35608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72F"/>
                </a:solidFill>
              </a:rPr>
              <a:t>Código limpio: nombres descriptivos, organización modular y separación de responsabilidades.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331720"/>
            <a:ext cx="658368" cy="658368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50008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72F"/>
                </a:solidFill>
              </a:rPr>
              <a:t>Control de dependencias: Maven para backend y NPM para frontend.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246120"/>
            <a:ext cx="658368" cy="658368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264408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72F"/>
                </a:solidFill>
              </a:rPr>
              <a:t>Dockerización: despliegue reproducible y menor incompatibilidad entre ambientes.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160520"/>
            <a:ext cx="658368" cy="6583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78807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72F"/>
                </a:solidFill>
              </a:rPr>
              <a:t>Pruebas: entidades, validaciones de negocio, respuestas de APIs e integración entre servicios.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5535" y="4981022"/>
            <a:ext cx="4434840" cy="1294431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85535" y="4981022"/>
            <a:ext cx="73152" cy="1294431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6703" y="5118182"/>
            <a:ext cx="4114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D50"/>
                </a:solidFill>
              </a:rPr>
              <a:t>Resultado esperado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Menos errores en etapas tempranas.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Mayor estabilidad de la plataforma.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Código más fácil de mantener y ampliar.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Mejor evidencia para responder la rúbrica oral.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Sanos y Salvos Platform | Defensa oral DSY1106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142D50"/>
                </a:solidFill>
              </a:rPr>
              <a:t>Guion para responder la defensa oral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201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Indicador oral</a:t>
                      </a:r>
                    </a:p>
                  </a:txBody>
                  <a:tcPr>
                    <a:solidFill>
                      <a:srgbClr val="14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Qué decir para apuntar al 100%</a:t>
                      </a:r>
                    </a:p>
                  </a:txBody>
                  <a:tcPr>
                    <a:solidFill>
                      <a:srgbClr val="14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5. Patrones de diseño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Builder, Facade y Adapter; explicar problema, solución e impacto en mantenibilidad.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6. Arquetipos y arquitectura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BFF, microservicios, Gateway, Eureka, Config Server y Keycloak; justificar coherencia, escalabilidad y rendimiento.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7. Branching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main, develop, feature/* y hotfix/*; explicar colaboración, merges y resolución de conflictos.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8. Buenas prácticas y pruebas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72F"/>
                          </a:solidFill>
                        </a:defRPr>
                      </a:pPr>
                      <a:r>
                        <a:t>Código limpio, dependencias, Docker, pruebas unitarias y beneficios de calidad.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60120" y="4709160"/>
            <a:ext cx="10287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0120" y="4709160"/>
            <a:ext cx="73152" cy="96012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1288" y="4846320"/>
            <a:ext cx="99669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rPr dirty="0"/>
              <a:t>Las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tomadas</a:t>
            </a:r>
            <a:r>
              <a:rPr dirty="0"/>
              <a:t> no </a:t>
            </a:r>
            <a:r>
              <a:rPr dirty="0" err="1"/>
              <a:t>fueron</a:t>
            </a:r>
            <a:r>
              <a:rPr dirty="0"/>
              <a:t> solo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tecnología</a:t>
            </a:r>
            <a:r>
              <a:rPr dirty="0"/>
              <a:t>, </a:t>
            </a:r>
            <a:r>
              <a:rPr dirty="0" err="1"/>
              <a:t>sino</a:t>
            </a:r>
            <a:r>
              <a:rPr dirty="0"/>
              <a:t> para resolver </a:t>
            </a:r>
            <a:r>
              <a:rPr dirty="0" err="1"/>
              <a:t>problemas</a:t>
            </a:r>
            <a:r>
              <a:rPr dirty="0"/>
              <a:t> </a:t>
            </a:r>
            <a:r>
              <a:rPr dirty="0" err="1"/>
              <a:t>concretos</a:t>
            </a:r>
            <a:r>
              <a:rPr dirty="0"/>
              <a:t>: </a:t>
            </a:r>
            <a:r>
              <a:rPr dirty="0" err="1"/>
              <a:t>desacoplamiento</a:t>
            </a:r>
            <a:r>
              <a:rPr dirty="0"/>
              <a:t>, </a:t>
            </a:r>
            <a:r>
              <a:rPr dirty="0" err="1"/>
              <a:t>mantenibilidad</a:t>
            </a:r>
            <a:r>
              <a:rPr dirty="0"/>
              <a:t>, </a:t>
            </a:r>
            <a:r>
              <a:rPr dirty="0" err="1"/>
              <a:t>escalabilidad</a:t>
            </a:r>
            <a:r>
              <a:rPr dirty="0"/>
              <a:t>, </a:t>
            </a:r>
            <a:r>
              <a:rPr dirty="0" err="1"/>
              <a:t>colaboración</a:t>
            </a:r>
            <a:r>
              <a:rPr dirty="0"/>
              <a:t> y </a:t>
            </a:r>
            <a:r>
              <a:rPr dirty="0" err="1"/>
              <a:t>calidad</a:t>
            </a:r>
            <a:r>
              <a:rPr dirty="0"/>
              <a:t> del </a:t>
            </a:r>
            <a:r>
              <a:rPr dirty="0" err="1"/>
              <a:t>código</a:t>
            </a:r>
            <a:r>
              <a:rPr lang="es-MX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Sanos y Salvos Platform | Defensa oral DSY1106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142D50"/>
                </a:solidFill>
              </a:rPr>
              <a:t>Conclusión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4864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2971800"/>
          </a:xfrm>
          <a:prstGeom prst="rect">
            <a:avLst/>
          </a:prstGeom>
          <a:solidFill>
            <a:srgbClr val="22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54480"/>
            <a:ext cx="51663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D50"/>
                </a:solidFill>
              </a:rPr>
              <a:t>Conclusiones principales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Sanos y Salvos Platform cumple con una solución fullstack moderna y desacoplada.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La arquitectura de microservicios permite crecer sin afectar todo el sistema.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Los patrones de diseño resuelven problemas reales del frontend y backend.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t>Git, branching y Docker fortalecen el trabajo colaborativo y la reproducibilidad.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17320"/>
            <a:ext cx="50292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417320"/>
            <a:ext cx="73152" cy="2971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93407" y="1554480"/>
            <a:ext cx="4709160" cy="1149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 err="1">
                <a:solidFill>
                  <a:srgbClr val="142D50"/>
                </a:solidFill>
              </a:rPr>
              <a:t>Mensaje</a:t>
            </a:r>
            <a:r>
              <a:rPr sz="1700" b="1" dirty="0">
                <a:solidFill>
                  <a:srgbClr val="142D50"/>
                </a:solidFill>
              </a:rPr>
              <a:t> </a:t>
            </a:r>
            <a:r>
              <a:rPr sz="1700" b="1" dirty="0" err="1">
                <a:solidFill>
                  <a:srgbClr val="142D50"/>
                </a:solidFill>
              </a:rPr>
              <a:t>fina</a:t>
            </a:r>
            <a:r>
              <a:rPr lang="es-MX" sz="1700" b="1" dirty="0">
                <a:solidFill>
                  <a:srgbClr val="142D50"/>
                </a:solidFill>
              </a:rPr>
              <a:t>l</a:t>
            </a:r>
            <a:endParaRPr sz="1700" b="1" dirty="0">
              <a:solidFill>
                <a:srgbClr val="142D50"/>
              </a:solidFill>
            </a:endParaRP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rPr dirty="0"/>
              <a:t>El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demuestra</a:t>
            </a:r>
            <a:r>
              <a:rPr dirty="0"/>
              <a:t> la </a:t>
            </a: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integrada</a:t>
            </a:r>
            <a:r>
              <a:rPr dirty="0"/>
              <a:t> de </a:t>
            </a:r>
            <a:r>
              <a:rPr dirty="0" err="1"/>
              <a:t>patrones</a:t>
            </a:r>
            <a:r>
              <a:rPr dirty="0"/>
              <a:t>, </a:t>
            </a:r>
            <a:r>
              <a:rPr dirty="0" err="1"/>
              <a:t>arquetipos</a:t>
            </a:r>
            <a:r>
              <a:rPr dirty="0"/>
              <a:t>, </a:t>
            </a:r>
            <a:r>
              <a:rPr dirty="0" err="1"/>
              <a:t>arquitectura</a:t>
            </a:r>
            <a:r>
              <a:rPr dirty="0"/>
              <a:t>, </a:t>
            </a:r>
            <a:r>
              <a:rPr dirty="0" err="1"/>
              <a:t>versionamiento</a:t>
            </a:r>
            <a:r>
              <a:rPr dirty="0"/>
              <a:t> y </a:t>
            </a:r>
            <a:r>
              <a:rPr dirty="0" err="1"/>
              <a:t>buenas</a:t>
            </a:r>
            <a:r>
              <a:rPr dirty="0"/>
              <a:t> </a:t>
            </a:r>
            <a:r>
              <a:rPr dirty="0" err="1"/>
              <a:t>prácticas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250">
                <a:solidFill>
                  <a:srgbClr val="23272F"/>
                </a:solidFill>
              </a:defRPr>
            </a:pPr>
            <a:r>
              <a:rPr dirty="0"/>
              <a:t>La </a:t>
            </a:r>
            <a:r>
              <a:rPr dirty="0" err="1"/>
              <a:t>solución</a:t>
            </a:r>
            <a:r>
              <a:rPr dirty="0"/>
              <a:t>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preparada</a:t>
            </a:r>
            <a:r>
              <a:rPr dirty="0"/>
              <a:t> para </a:t>
            </a:r>
            <a:r>
              <a:rPr dirty="0" err="1"/>
              <a:t>futuras</a:t>
            </a:r>
            <a:r>
              <a:rPr dirty="0"/>
              <a:t> </a:t>
            </a:r>
            <a:r>
              <a:rPr dirty="0" err="1"/>
              <a:t>funcionalidades</a:t>
            </a:r>
            <a:r>
              <a:rPr dirty="0"/>
              <a:t>, </a:t>
            </a:r>
            <a:r>
              <a:rPr dirty="0" err="1"/>
              <a:t>mejoras</a:t>
            </a:r>
            <a:r>
              <a:rPr dirty="0"/>
              <a:t> de </a:t>
            </a:r>
            <a:r>
              <a:rPr dirty="0" err="1"/>
              <a:t>seguridad</a:t>
            </a:r>
            <a:r>
              <a:rPr dirty="0"/>
              <a:t> y </a:t>
            </a:r>
            <a:r>
              <a:rPr dirty="0" err="1"/>
              <a:t>despliegues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robustos</a:t>
            </a:r>
            <a:r>
              <a:rPr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834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42D50"/>
                </a:solidFill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903</Words>
  <Application>Microsoft Office PowerPoint</Application>
  <PresentationFormat>Panorámica</PresentationFormat>
  <Paragraphs>142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Matías Guzmán</cp:lastModifiedBy>
  <cp:revision>5</cp:revision>
  <dcterms:created xsi:type="dcterms:W3CDTF">2013-01-27T09:14:16Z</dcterms:created>
  <dcterms:modified xsi:type="dcterms:W3CDTF">2026-05-19T23:14:57Z</dcterms:modified>
  <cp:category/>
</cp:coreProperties>
</file>